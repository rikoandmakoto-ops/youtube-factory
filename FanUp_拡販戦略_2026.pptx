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2B1B5E"/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3200400"/>
            <a:ext cx="4023360" cy="4023360"/>
          </a:xfrm>
          <a:prstGeom prst="ellipse">
            <a:avLst/>
          </a:prstGeom>
          <a:solidFill>
            <a:srgbClr val="2B1B5E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3977640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96012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4215384" y="777240"/>
            <a:ext cx="713232" cy="713232"/>
          </a:xfrm>
          <a:prstGeom prst="roundRect">
            <a:avLst>
              <a:gd name="adj" fmla="val 20513"/>
            </a:avLst>
          </a:prstGeom>
          <a:solidFill>
            <a:srgbClr val="F9731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2544" y="91440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1783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4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FANUP  成長戦略  2026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0" y="2121408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FanUp 拡販戦略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0" y="3063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DM アウトリーチ施策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0" y="3977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推しをデビューさせよう。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0" y="4434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7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2026年7月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188720"/>
            <a:ext cx="566928" cy="566928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336121"/>
            <a:ext cx="272125" cy="2721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0" y="1188720"/>
            <a:ext cx="4480560" cy="1133856"/>
          </a:xfrm>
          <a:prstGeom prst="roundRect">
            <a:avLst>
              <a:gd name="adj" fmla="val 7258"/>
            </a:avLst>
          </a:prstGeom>
          <a:solidFill>
            <a:srgbClr val="F5F3FF"/>
          </a:solidFill>
          <a:ln/>
        </p:spPr>
      </p:sp>
      <p:sp>
        <p:nvSpPr>
          <p:cNvPr id="10" name="Shape 7"/>
          <p:cNvSpPr/>
          <p:nvPr/>
        </p:nvSpPr>
        <p:spPr>
          <a:xfrm>
            <a:off x="4114800" y="2487168"/>
            <a:ext cx="4480560" cy="1133856"/>
          </a:xfrm>
          <a:prstGeom prst="roundRect">
            <a:avLst>
              <a:gd name="adj" fmla="val 7258"/>
            </a:avLst>
          </a:prstGeom>
          <a:solidFill>
            <a:srgbClr val="F5F3FF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0" y="3785616"/>
            <a:ext cx="4480560" cy="1133856"/>
          </a:xfrm>
          <a:prstGeom prst="roundRect">
            <a:avLst>
              <a:gd name="adj" fmla="val 7258"/>
            </a:avLst>
          </a:prstGeom>
          <a:solidFill>
            <a:srgbClr val="F5F3FF"/>
          </a:solidFill>
          <a:ln/>
        </p:spPr>
      </p:sp>
      <p:sp>
        <p:nvSpPr>
          <p:cNvPr id="12" name="Shape 9"/>
          <p:cNvSpPr/>
          <p:nvPr/>
        </p:nvSpPr>
        <p:spPr>
          <a:xfrm>
            <a:off x="4370832" y="1481328"/>
            <a:ext cx="548640" cy="548640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478" y="1623974"/>
            <a:ext cx="263347" cy="26334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70832" y="2779776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478" y="2922422"/>
            <a:ext cx="263347" cy="26334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70832" y="4078224"/>
            <a:ext cx="548640" cy="548640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3478" y="4220870"/>
            <a:ext cx="263347" cy="26334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FanUp とは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9202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6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推しを</a:t>
            </a:r>
            <a:endParaRPr lang="en-US" sz="2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6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デビューさせよう。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48640" y="29718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ファンクラブ特化型のクラウドファンディング。ファンはポイントを購入してプロジェクトを支援し、目標達成したクリエイターは自分のチャンネルを開設できる。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1,248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サポーター   </a:t>
            </a:r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達成チャンネル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4498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fanup-rouge.vercel.app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12064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全額達成型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120640" y="17190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目標金額を達成した場合のみ成立。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達成でチャンネル開設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120640" y="2670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手数料 ¥0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12064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サポーター側の利用は完全無料。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気軽に推しを応援できる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120640" y="39684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収益 30%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120640" y="43159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成立時のみ発生する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プラットフォーム手数料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14300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429000" y="114300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0" y="114300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3611880"/>
            <a:ext cx="8046720" cy="1051560"/>
          </a:xfrm>
          <a:prstGeom prst="roundRect">
            <a:avLst>
              <a:gd name="adj" fmla="val 7826"/>
            </a:avLst>
          </a:prstGeom>
          <a:solidFill>
            <a:srgbClr val="FFF7ED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399032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31" y="1529791"/>
            <a:ext cx="241402" cy="24140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85032" y="1399032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791" y="1529791"/>
            <a:ext cx="241402" cy="24140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65392" y="1399032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151" y="1529791"/>
            <a:ext cx="241402" cy="24140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68680" y="3867912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4010558"/>
            <a:ext cx="263347" cy="26334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市場機会</a:t>
            </a:r>
            <a:endParaRPr lang="en-US" sz="3000" dirty="0"/>
          </a:p>
        </p:txBody>
      </p:sp>
      <p:sp>
        <p:nvSpPr>
          <p:cNvPr id="15" name="Text 9"/>
          <p:cNvSpPr/>
          <p:nvPr/>
        </p:nvSpPr>
        <p:spPr>
          <a:xfrm>
            <a:off x="804672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1,500万人</a:t>
            </a:r>
            <a:endParaRPr lang="en-US" sz="3000" dirty="0"/>
          </a:p>
        </p:txBody>
      </p:sp>
      <p:sp>
        <p:nvSpPr>
          <p:cNvPr id="16" name="Text 10"/>
          <p:cNvSpPr/>
          <p:nvPr/>
        </p:nvSpPr>
        <p:spPr>
          <a:xfrm>
            <a:off x="804672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日本のクリエイター人口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3685032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000" dirty="0"/>
          </a:p>
        </p:txBody>
      </p:sp>
      <p:sp>
        <p:nvSpPr>
          <p:cNvPr id="18" name="Text 12"/>
          <p:cNvSpPr/>
          <p:nvPr/>
        </p:nvSpPr>
        <p:spPr>
          <a:xfrm>
            <a:off x="3685032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収益化できていない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クリエイターの割合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565392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¥1.3兆</a:t>
            </a:r>
            <a:endParaRPr lang="en-US" sz="3000" dirty="0"/>
          </a:p>
        </p:txBody>
      </p:sp>
      <p:sp>
        <p:nvSpPr>
          <p:cNvPr id="20" name="Text 14"/>
          <p:cNvSpPr/>
          <p:nvPr/>
        </p:nvSpPr>
        <p:spPr>
          <a:xfrm>
            <a:off x="6565392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国内クリエイター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エコノミー市場規模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645920" y="37947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フォロワー1K〜50Kの「あと一歩」層が狙い目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1645920" y="41605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熱心なファンはいるのに収益化手段がない。この層にFanUpが最も刺さる。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F9731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75488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34440"/>
            <a:ext cx="393192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663440" y="1234440"/>
            <a:ext cx="393192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044952"/>
            <a:ext cx="393192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663440" y="3044952"/>
            <a:ext cx="393192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04672" y="1508760"/>
            <a:ext cx="548640" cy="548640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18" y="1651406"/>
            <a:ext cx="263347" cy="26334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19472" y="1508760"/>
            <a:ext cx="548640" cy="548640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118" y="1651406"/>
            <a:ext cx="263347" cy="26334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04672" y="3319272"/>
            <a:ext cx="548640" cy="548640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" y="3461918"/>
            <a:ext cx="263347" cy="26334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919472" y="3319272"/>
            <a:ext cx="548640" cy="548640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118" y="3461918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474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なぜ Instagram か</a:t>
            </a:r>
            <a:endParaRPr lang="en-US" sz="3000" dirty="0"/>
          </a:p>
        </p:txBody>
      </p:sp>
      <p:sp>
        <p:nvSpPr>
          <p:cNvPr id="17" name="Text 10"/>
          <p:cNvSpPr/>
          <p:nvPr/>
        </p:nvSpPr>
        <p:spPr>
          <a:xfrm>
            <a:off x="150876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ビジュアル訴求力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1508760" y="18928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作品がそのまま魅力として伝わる。世界観に共感したファンが集まりやすい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562356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DM文化が根付いている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5623560" y="18928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カジュアルな1対1のやり取りが日常的で、返信のハードルが低い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1508760" y="3319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ターゲット層が集中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1508760" y="3703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イラスト・音楽・コスプレ系クリエイターの主戦場になっている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623560" y="3319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ストーリーズで拡散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5623560" y="3703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成功事例がフォロワーへ自然にシェアされ、次の候補に届く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234440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5F3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89280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5F3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551176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5F3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209544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5F3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867912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5F3FF"/>
          </a:solidFill>
          <a:ln/>
        </p:spPr>
      </p:sp>
      <p:sp>
        <p:nvSpPr>
          <p:cNvPr id="8" name="Shape 6"/>
          <p:cNvSpPr/>
          <p:nvPr/>
        </p:nvSpPr>
        <p:spPr>
          <a:xfrm>
            <a:off x="7269480" y="136245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9" name="Shape 7"/>
          <p:cNvSpPr/>
          <p:nvPr/>
        </p:nvSpPr>
        <p:spPr>
          <a:xfrm>
            <a:off x="7269480" y="2020824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7269480" y="267919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6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7269480" y="33375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6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7269480" y="3995928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1316736"/>
            <a:ext cx="402336" cy="402336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847" y="1421343"/>
            <a:ext cx="193121" cy="193121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77240" y="1975104"/>
            <a:ext cx="402336" cy="402336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47" y="2079711"/>
            <a:ext cx="193121" cy="193121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77240" y="2633472"/>
            <a:ext cx="402336" cy="402336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47" y="2738079"/>
            <a:ext cx="193121" cy="193121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77240" y="3291840"/>
            <a:ext cx="402336" cy="402336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47" y="3396447"/>
            <a:ext cx="193121" cy="193121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77240" y="3950208"/>
            <a:ext cx="402336" cy="402336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847" y="4054815"/>
            <a:ext cx="193121" cy="19312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ターゲットセグメント</a:t>
            </a:r>
            <a:endParaRPr lang="en-US" sz="3000" dirty="0"/>
          </a:p>
        </p:txBody>
      </p:sp>
      <p:sp>
        <p:nvSpPr>
          <p:cNvPr id="23" name="Text 16"/>
          <p:cNvSpPr/>
          <p:nvPr/>
        </p:nvSpPr>
        <p:spPr>
          <a:xfrm>
            <a:off x="1572768" y="9326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ジャンル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4663440" y="9326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フォロワー規模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7178040" y="932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優先度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572768" y="12344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イラスト・デザイン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663440" y="1234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1K〜10K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269480" y="136245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572768" y="18928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音楽・歌い手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663440" y="18928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3K〜30K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269480" y="202082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572768" y="25511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コスプレ・コスメ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663440" y="25511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5K〜50K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7269480" y="26791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1572768" y="32095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ハンドメイド作家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4663440" y="32095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1K〜5K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269480" y="33375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1572768" y="38679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VTuber・配信者</a:t>
            </a:r>
            <a:endParaRPr lang="en-US" sz="1450" dirty="0"/>
          </a:p>
        </p:txBody>
      </p:sp>
      <p:sp>
        <p:nvSpPr>
          <p:cNvPr id="39" name="Text 32"/>
          <p:cNvSpPr/>
          <p:nvPr/>
        </p:nvSpPr>
        <p:spPr>
          <a:xfrm>
            <a:off x="4663440" y="38679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1K〜20K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7269480" y="399592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548640" y="46177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= 最優先で即着手 / P1 = 第2波で展開 / P2 = 反応を見て判断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234440"/>
            <a:ext cx="1874520" cy="2377440"/>
          </a:xfrm>
          <a:prstGeom prst="roundRect">
            <a:avLst>
              <a:gd name="adj" fmla="val 4390"/>
            </a:avLst>
          </a:prstGeom>
          <a:solidFill>
            <a:srgbClr val="F5F3FF"/>
          </a:solidFill>
          <a:ln/>
        </p:spPr>
      </p:sp>
      <p:sp>
        <p:nvSpPr>
          <p:cNvPr id="4" name="Shape 2"/>
          <p:cNvSpPr/>
          <p:nvPr/>
        </p:nvSpPr>
        <p:spPr>
          <a:xfrm>
            <a:off x="2724912" y="1234440"/>
            <a:ext cx="1874520" cy="2377440"/>
          </a:xfrm>
          <a:prstGeom prst="roundRect">
            <a:avLst>
              <a:gd name="adj" fmla="val 4390"/>
            </a:avLst>
          </a:prstGeom>
          <a:solidFill>
            <a:srgbClr val="F5F3FF"/>
          </a:solidFill>
          <a:ln/>
        </p:spPr>
      </p:sp>
      <p:sp>
        <p:nvSpPr>
          <p:cNvPr id="5" name="Shape 3"/>
          <p:cNvSpPr/>
          <p:nvPr/>
        </p:nvSpPr>
        <p:spPr>
          <a:xfrm>
            <a:off x="4901184" y="1234440"/>
            <a:ext cx="1874520" cy="2377440"/>
          </a:xfrm>
          <a:prstGeom prst="roundRect">
            <a:avLst>
              <a:gd name="adj" fmla="val 4390"/>
            </a:avLst>
          </a:prstGeom>
          <a:solidFill>
            <a:srgbClr val="F5F3FF"/>
          </a:solidFill>
          <a:ln/>
        </p:spPr>
      </p:sp>
      <p:sp>
        <p:nvSpPr>
          <p:cNvPr id="6" name="Shape 4"/>
          <p:cNvSpPr/>
          <p:nvPr/>
        </p:nvSpPr>
        <p:spPr>
          <a:xfrm>
            <a:off x="7077456" y="1234440"/>
            <a:ext cx="1874520" cy="2377440"/>
          </a:xfrm>
          <a:prstGeom prst="roundRect">
            <a:avLst>
              <a:gd name="adj" fmla="val 4390"/>
            </a:avLst>
          </a:prstGeom>
          <a:solidFill>
            <a:srgbClr val="F5F3FF"/>
          </a:solidFill>
          <a:ln/>
        </p:spPr>
      </p:sp>
      <p:sp>
        <p:nvSpPr>
          <p:cNvPr id="7" name="Shape 5"/>
          <p:cNvSpPr/>
          <p:nvPr/>
        </p:nvSpPr>
        <p:spPr>
          <a:xfrm>
            <a:off x="2459736" y="2423160"/>
            <a:ext cx="22860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36008" y="2423160"/>
            <a:ext cx="22860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12280" y="2423160"/>
            <a:ext cx="22860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211580" y="1755648"/>
            <a:ext cx="548640" cy="548640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226" y="1898294"/>
            <a:ext cx="263347" cy="26334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387852" y="1755648"/>
            <a:ext cx="548640" cy="548640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498" y="1898294"/>
            <a:ext cx="263347" cy="26334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564124" y="1755648"/>
            <a:ext cx="548640" cy="548640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770" y="1898294"/>
            <a:ext cx="263347" cy="26334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740396" y="1755648"/>
            <a:ext cx="548640" cy="548640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042" y="1898294"/>
            <a:ext cx="263347" cy="263347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48640" y="3977640"/>
            <a:ext cx="8046720" cy="713232"/>
          </a:xfrm>
          <a:prstGeom prst="roundRect">
            <a:avLst>
              <a:gd name="adj" fmla="val 11538"/>
            </a:avLst>
          </a:prstGeom>
          <a:solidFill>
            <a:srgbClr val="EDE9FE"/>
          </a:solidFill>
          <a:ln/>
        </p:spPr>
      </p:sp>
      <p:sp>
        <p:nvSpPr>
          <p:cNvPr id="19" name="Shape 13"/>
          <p:cNvSpPr/>
          <p:nvPr/>
        </p:nvSpPr>
        <p:spPr>
          <a:xfrm>
            <a:off x="868680" y="4087368"/>
            <a:ext cx="493776" cy="493776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062" y="4215750"/>
            <a:ext cx="237012" cy="23701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 アウトリーチ フロー</a:t>
            </a:r>
            <a:endParaRPr lang="en-US" sz="3000" dirty="0"/>
          </a:p>
        </p:txBody>
      </p:sp>
      <p:sp>
        <p:nvSpPr>
          <p:cNvPr id="21" name="Text 14"/>
          <p:cNvSpPr/>
          <p:nvPr/>
        </p:nvSpPr>
        <p:spPr>
          <a:xfrm>
            <a:off x="749808" y="1417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48640" y="2450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リサーチ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749808" y="283464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ハッシュタグ・発見タブで候補を選定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2926080" y="1417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2724912" y="2450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初回DM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2926080" y="283464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作品への感想から自然に会話を始める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102352" y="1417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901184" y="2450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関係構築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5102352" y="283464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いいね・コメントで継続的に接点を持つ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278624" y="1417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077456" y="2450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7278624" y="283464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FanUpでのプロジェクト立ち上げを提案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600200" y="397764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初回DMから提案まで 1〜2週間。売り込む前に、まず信頼を積み上げる。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097280"/>
            <a:ext cx="393192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0" y="1097280"/>
            <a:ext cx="393192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9050">
            <a:solidFill>
              <a:srgbClr val="6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3419856" cy="1417320"/>
          </a:xfrm>
          <a:prstGeom prst="roundRect">
            <a:avLst>
              <a:gd name="adj" fmla="val 4516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4919472" y="1920240"/>
            <a:ext cx="3419856" cy="1417320"/>
          </a:xfrm>
          <a:prstGeom prst="roundRect">
            <a:avLst>
              <a:gd name="adj" fmla="val 4516"/>
            </a:avLst>
          </a:prstGeom>
          <a:solidFill>
            <a:srgbClr val="F5F3FF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316736"/>
            <a:ext cx="457200" cy="457200"/>
          </a:xfrm>
          <a:prstGeom prst="ellipse">
            <a:avLst/>
          </a:prstGeom>
          <a:solidFill>
            <a:srgbClr val="9CA3A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435608"/>
            <a:ext cx="219456" cy="219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19472" y="1316736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435608"/>
            <a:ext cx="219456" cy="2194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 テンプレート例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1389888" y="13167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NG例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960120" y="20574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はじめまして!ファンクラブ特化型クラファン「FanUp」を運営しています。ぜひご登録ください!→ リンクはこちら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68680" y="35204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いきなり宣伝・リンク送付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誰にでも送れるテンプレ文面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相手の作品への言及がゼロ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504688" y="13167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OK例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074920" y="202996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◯◯さんの新作、配色がとても素敵でした!クリエイター支援サービスを運営しており、◯◯さんの活動と相性が良いと感じてご連絡しました。よろしければ概要だけでもご覧いただけませんか?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983480" y="35204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作品への具体的な感想から入る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連絡した理由を明確に伝える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判断を相手に委ねる姿勢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188720"/>
            <a:ext cx="2532888" cy="3383280"/>
          </a:xfrm>
          <a:prstGeom prst="roundRect">
            <a:avLst>
              <a:gd name="adj" fmla="val 3610"/>
            </a:avLst>
          </a:prstGeom>
          <a:solidFill>
            <a:srgbClr val="F5F3FF"/>
          </a:solidFill>
          <a:ln/>
        </p:spPr>
      </p:sp>
      <p:sp>
        <p:nvSpPr>
          <p:cNvPr id="4" name="Shape 2"/>
          <p:cNvSpPr/>
          <p:nvPr/>
        </p:nvSpPr>
        <p:spPr>
          <a:xfrm>
            <a:off x="3310128" y="1188720"/>
            <a:ext cx="2532888" cy="3383280"/>
          </a:xfrm>
          <a:prstGeom prst="roundRect">
            <a:avLst>
              <a:gd name="adj" fmla="val 3610"/>
            </a:avLst>
          </a:prstGeom>
          <a:solidFill>
            <a:srgbClr val="EDE9FE"/>
          </a:solidFill>
          <a:ln/>
        </p:spPr>
      </p:sp>
      <p:sp>
        <p:nvSpPr>
          <p:cNvPr id="5" name="Shape 3"/>
          <p:cNvSpPr/>
          <p:nvPr/>
        </p:nvSpPr>
        <p:spPr>
          <a:xfrm>
            <a:off x="6071616" y="1188720"/>
            <a:ext cx="2532888" cy="3383280"/>
          </a:xfrm>
          <a:prstGeom prst="roundRect">
            <a:avLst>
              <a:gd name="adj" fmla="val 3610"/>
            </a:avLst>
          </a:prstGeom>
          <a:solidFill>
            <a:srgbClr val="1E1145"/>
          </a:solidFill>
          <a:ln/>
        </p:spPr>
      </p:sp>
      <p:sp>
        <p:nvSpPr>
          <p:cNvPr id="6" name="Shape 4"/>
          <p:cNvSpPr/>
          <p:nvPr/>
        </p:nvSpPr>
        <p:spPr>
          <a:xfrm>
            <a:off x="1911096" y="157276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672584" y="157276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434072" y="157276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481328"/>
            <a:ext cx="530352" cy="530352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564" y="1619220"/>
            <a:ext cx="254569" cy="25456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566160" y="1481328"/>
            <a:ext cx="530352" cy="530352"/>
          </a:xfrm>
          <a:prstGeom prst="ellipse">
            <a:avLst/>
          </a:prstGeom>
          <a:solidFill>
            <a:srgbClr val="6C3AE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052" y="1619220"/>
            <a:ext cx="254569" cy="25456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27648" y="1481328"/>
            <a:ext cx="530352" cy="530352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540" y="1619220"/>
            <a:ext cx="254569" cy="25456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3フェーズ成長プラン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1911096" y="15727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1〜2ヶ月目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04672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第1段階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04672" y="2496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種まき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04672" y="3154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100通/週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初期クリエイター10人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成功事例を1件つくる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672584" y="15727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3〜4ヶ月目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356616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第2段階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566160" y="2496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成長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3566160" y="3154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紹介制度スタート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Instagram広告テスト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クリエイターコラボ企画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434072" y="15727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5〜6ヶ月目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327648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第3段階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327648" y="2496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拡大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6327648" y="3154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月間クリエイター50人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KOLアンバサダー起用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9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他SNSへ展開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188720"/>
            <a:ext cx="253288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310128" y="1188720"/>
            <a:ext cx="253288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71616" y="1188720"/>
            <a:ext cx="253288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971800"/>
            <a:ext cx="253288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10128" y="2971800"/>
            <a:ext cx="253288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71616" y="2971800"/>
            <a:ext cx="253288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2888" y="1426464"/>
            <a:ext cx="310896" cy="310896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1426464"/>
            <a:ext cx="310896" cy="310896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1426464"/>
            <a:ext cx="310896" cy="310896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3209544"/>
            <a:ext cx="310896" cy="310896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376" y="3209544"/>
            <a:ext cx="310896" cy="310896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5864" y="3209544"/>
            <a:ext cx="310896" cy="31089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KPI・目標設定</a:t>
            </a:r>
            <a:endParaRPr lang="en-US" sz="3000" dirty="0"/>
          </a:p>
        </p:txBody>
      </p:sp>
      <p:sp>
        <p:nvSpPr>
          <p:cNvPr id="15" name="Text 7"/>
          <p:cNvSpPr/>
          <p:nvPr/>
        </p:nvSpPr>
        <p:spPr>
          <a:xfrm>
            <a:off x="786384" y="14447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DM送信数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786384" y="1874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通/週</a:t>
            </a:r>
            <a:endParaRPr lang="en-US" sz="3000" dirty="0"/>
          </a:p>
        </p:txBody>
      </p:sp>
      <p:sp>
        <p:nvSpPr>
          <p:cNvPr id="17" name="Text 9"/>
          <p:cNvSpPr/>
          <p:nvPr/>
        </p:nvSpPr>
        <p:spPr>
          <a:xfrm>
            <a:off x="3547872" y="14447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DM返信率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3547872" y="1874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以上</a:t>
            </a:r>
            <a:endParaRPr lang="en-US" sz="3000" dirty="0"/>
          </a:p>
        </p:txBody>
      </p:sp>
      <p:sp>
        <p:nvSpPr>
          <p:cNvPr id="19" name="Text 11"/>
          <p:cNvSpPr/>
          <p:nvPr/>
        </p:nvSpPr>
        <p:spPr>
          <a:xfrm>
            <a:off x="6309360" y="14447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登録クリエイター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309360" y="1874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人/月</a:t>
            </a:r>
            <a:endParaRPr lang="en-US" sz="3000" dirty="0"/>
          </a:p>
        </p:txBody>
      </p:sp>
      <p:sp>
        <p:nvSpPr>
          <p:cNvPr id="21" name="Text 13"/>
          <p:cNvSpPr/>
          <p:nvPr/>
        </p:nvSpPr>
        <p:spPr>
          <a:xfrm>
            <a:off x="786384" y="32278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プロジェクト開始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786384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件/月</a:t>
            </a:r>
            <a:endParaRPr lang="en-US" sz="3000" dirty="0"/>
          </a:p>
        </p:txBody>
      </p:sp>
      <p:sp>
        <p:nvSpPr>
          <p:cNvPr id="23" name="Text 15"/>
          <p:cNvSpPr/>
          <p:nvPr/>
        </p:nvSpPr>
        <p:spPr>
          <a:xfrm>
            <a:off x="3547872" y="32278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新規サポーター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3547872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人/月</a:t>
            </a:r>
            <a:endParaRPr lang="en-US" sz="3000" dirty="0"/>
          </a:p>
        </p:txBody>
      </p:sp>
      <p:sp>
        <p:nvSpPr>
          <p:cNvPr id="25" name="Text 17"/>
          <p:cNvSpPr/>
          <p:nvPr/>
        </p:nvSpPr>
        <p:spPr>
          <a:xfrm>
            <a:off x="6309360" y="32278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目標達成率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30936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以上</a:t>
            </a:r>
            <a:endParaRPr lang="en-US" sz="3000" dirty="0"/>
          </a:p>
        </p:txBody>
      </p:sp>
      <p:sp>
        <p:nvSpPr>
          <p:cNvPr id="27" name="Text 19"/>
          <p:cNvSpPr/>
          <p:nvPr/>
        </p:nvSpPr>
        <p:spPr>
          <a:xfrm>
            <a:off x="548640" y="4681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週次でモニタリングし、返信率が15%を下回る場合はテンプレートを改善する。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1E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645920"/>
            <a:ext cx="3840480" cy="3840480"/>
          </a:xfrm>
          <a:prstGeom prst="ellipse">
            <a:avLst/>
          </a:prstGeom>
          <a:solidFill>
            <a:srgbClr val="2B1B5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840480"/>
            <a:ext cx="3108960" cy="3108960"/>
          </a:xfrm>
          <a:prstGeom prst="ellipse">
            <a:avLst/>
          </a:prstGeom>
          <a:solidFill>
            <a:srgbClr val="2B1B5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435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65376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87168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108960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6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730752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6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1755648"/>
            <a:ext cx="6492240" cy="0"/>
          </a:xfrm>
          <a:prstGeom prst="line">
            <a:avLst/>
          </a:prstGeom>
          <a:noFill/>
          <a:ln w="9525">
            <a:solidFill>
              <a:srgbClr val="3A2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2377440"/>
            <a:ext cx="6492240" cy="0"/>
          </a:xfrm>
          <a:prstGeom prst="line">
            <a:avLst/>
          </a:prstGeom>
          <a:noFill/>
          <a:ln w="9525">
            <a:solidFill>
              <a:srgbClr val="3A2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999232"/>
            <a:ext cx="6492240" cy="0"/>
          </a:xfrm>
          <a:prstGeom prst="line">
            <a:avLst/>
          </a:prstGeom>
          <a:noFill/>
          <a:ln w="9525">
            <a:solidFill>
              <a:srgbClr val="3A2A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621024"/>
            <a:ext cx="6492240" cy="0"/>
          </a:xfrm>
          <a:prstGeom prst="line">
            <a:avLst/>
          </a:prstGeom>
          <a:noFill/>
          <a:ln w="9525">
            <a:solidFill>
              <a:srgbClr val="3A2A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553712"/>
            <a:ext cx="219456" cy="219456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548640" y="3474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アクションプラン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48640" y="124358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1〜2週目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103120" y="118872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公式Instagramアカウント開設・プロフィール整備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18653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3〜4週目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103120" y="1810512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ターゲットリスト200人作成、DM送信スタート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24871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5〜8週目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103120" y="2432304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反応データを分析し、DMテンプレートを最適化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3108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3〜4ヶ月目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2103120" y="3054096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紹介インセンティブ導入、Instagram広告テスト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8640" y="3730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5〜6ヶ月目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2103120" y="367588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KOLアンバサダー起用、他SNSへ展開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8872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まずは今週、最初のDMを送ることから。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FanUp 拡販戦略</dc:title>
  <dc:subject>PptxGenJS Presentation</dc:subject>
  <dc:creator>FanUp</dc:creator>
  <cp:lastModifiedBy>FanUp</cp:lastModifiedBy>
  <cp:revision>1</cp:revision>
  <dcterms:created xsi:type="dcterms:W3CDTF">2026-07-05T09:55:18Z</dcterms:created>
  <dcterms:modified xsi:type="dcterms:W3CDTF">2026-07-05T09:55:18Z</dcterms:modified>
</cp:coreProperties>
</file>