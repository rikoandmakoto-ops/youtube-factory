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notesMasterIdLst>
    <p:notesMasterId r:id="rId10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notesMaster" Target="notesMasters/notesMaster1.xml"/><Relationship Id="rId11" Type="http://schemas.openxmlformats.org/officeDocument/2006/relationships/presProps" Target="presProps.xml"/><Relationship Id="rId12" Type="http://schemas.openxmlformats.org/officeDocument/2006/relationships/viewProps" Target="viewProps.xml"/><Relationship Id="rId13" Type="http://schemas.openxmlformats.org/officeDocument/2006/relationships/theme" Target="theme/theme1.xml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A1A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16213E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3840480"/>
            <a:ext cx="9144000" cy="54864"/>
          </a:xfrm>
          <a:prstGeom prst="rect">
            <a:avLst/>
          </a:prstGeom>
          <a:solidFill>
            <a:srgbClr val="E94560"/>
          </a:solidFill>
          <a:ln/>
        </p:spPr>
      </p:sp>
      <p:sp>
        <p:nvSpPr>
          <p:cNvPr id="4" name="Text 2"/>
          <p:cNvSpPr/>
          <p:nvPr/>
        </p:nvSpPr>
        <p:spPr>
          <a:xfrm>
            <a:off x="731520" y="1097280"/>
            <a:ext cx="768096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プロジェクト進行計画</a:t>
            </a:r>
            <a:endParaRPr lang="en-US" sz="3600" dirty="0"/>
          </a:p>
        </p:txBody>
      </p:sp>
      <p:sp>
        <p:nvSpPr>
          <p:cNvPr id="5" name="Text 3"/>
          <p:cNvSpPr/>
          <p:nvPr/>
        </p:nvSpPr>
        <p:spPr>
          <a:xfrm>
            <a:off x="731520" y="2011680"/>
            <a:ext cx="76809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E9456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oripa / aiseki / fanup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731520" y="4114800"/>
            <a:ext cx="3657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0F0F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2026年7月30日</a:t>
            </a:r>
            <a:endParaRPr lang="en-US" sz="14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7432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3プロジェクト概要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548640" y="868680"/>
            <a:ext cx="1828800" cy="36576"/>
          </a:xfrm>
          <a:prstGeom prst="rect">
            <a:avLst/>
          </a:prstGeom>
          <a:solidFill>
            <a:srgbClr val="E94560"/>
          </a:solidFill>
          <a:ln/>
        </p:spPr>
      </p:sp>
      <p:sp>
        <p:nvSpPr>
          <p:cNvPr id="4" name="Shape 2"/>
          <p:cNvSpPr/>
          <p:nvPr/>
        </p:nvSpPr>
        <p:spPr>
          <a:xfrm>
            <a:off x="548640" y="1280160"/>
            <a:ext cx="2651760" cy="3291840"/>
          </a:xfrm>
          <a:prstGeom prst="roundRect">
            <a:avLst>
              <a:gd name="adj" fmla="val 5172"/>
            </a:avLst>
          </a:prstGeom>
          <a:solidFill>
            <a:srgbClr val="F0F0F5"/>
          </a:solidFill>
          <a:ln/>
        </p:spPr>
      </p:sp>
      <p:sp>
        <p:nvSpPr>
          <p:cNvPr id="5" name="Shape 3"/>
          <p:cNvSpPr/>
          <p:nvPr/>
        </p:nvSpPr>
        <p:spPr>
          <a:xfrm>
            <a:off x="1280160" y="1554480"/>
            <a:ext cx="1188720" cy="1188720"/>
          </a:xfrm>
          <a:prstGeom prst="roundRect">
            <a:avLst>
              <a:gd name="adj" fmla="val 50000"/>
            </a:avLst>
          </a:prstGeom>
          <a:solidFill>
            <a:srgbClr val="0F3460"/>
          </a:solidFill>
          <a:ln/>
        </p:spPr>
      </p:sp>
      <p:sp>
        <p:nvSpPr>
          <p:cNvPr id="6" name="Text 4"/>
          <p:cNvSpPr/>
          <p:nvPr/>
        </p:nvSpPr>
        <p:spPr>
          <a:xfrm>
            <a:off x="1280160" y="1554480"/>
            <a:ext cx="118872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CF</a:t>
            </a:r>
            <a:endParaRPr lang="en-US" sz="2800" dirty="0"/>
          </a:p>
        </p:txBody>
      </p:sp>
      <p:sp>
        <p:nvSpPr>
          <p:cNvPr id="7" name="Text 5"/>
          <p:cNvSpPr/>
          <p:nvPr/>
        </p:nvSpPr>
        <p:spPr>
          <a:xfrm>
            <a:off x="685800" y="2926080"/>
            <a:ext cx="23774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FanUp</a:t>
            </a:r>
            <a:endParaRPr lang="en-US" sz="2000" dirty="0"/>
          </a:p>
        </p:txBody>
      </p:sp>
      <p:sp>
        <p:nvSpPr>
          <p:cNvPr id="8" name="Text 6"/>
          <p:cNvSpPr/>
          <p:nvPr/>
        </p:nvSpPr>
        <p:spPr>
          <a:xfrm>
            <a:off x="1097280" y="3291840"/>
            <a:ext cx="1554480" cy="320040"/>
          </a:xfrm>
          <a:prstGeom prst="roundRect">
            <a:avLst>
              <a:gd name="adj" fmla="val 14286"/>
            </a:avLst>
          </a:prstGeom>
          <a:solidFill>
            <a:srgbClr val="27AE60"/>
          </a:solidFill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完成度 85%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685800" y="3703320"/>
            <a:ext cx="23774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8E8E9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クリエイター支援</a:t>
            </a:r>
            <a:endParaRPr lang="en-US" sz="1100" dirty="0"/>
          </a:p>
          <a:p>
            <a:pPr algn="ctr" indent="0" marL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8E8E9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クラウドファンディング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685800" y="4206240"/>
            <a:ext cx="23774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3498D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fanup-rouge.vercel.app</a:t>
            </a:r>
            <a:endParaRPr lang="en-US" sz="900" dirty="0"/>
          </a:p>
        </p:txBody>
      </p:sp>
      <p:sp>
        <p:nvSpPr>
          <p:cNvPr id="11" name="Shape 9"/>
          <p:cNvSpPr/>
          <p:nvPr/>
        </p:nvSpPr>
        <p:spPr>
          <a:xfrm>
            <a:off x="3383280" y="1280160"/>
            <a:ext cx="2651760" cy="3291840"/>
          </a:xfrm>
          <a:prstGeom prst="roundRect">
            <a:avLst>
              <a:gd name="adj" fmla="val 5172"/>
            </a:avLst>
          </a:prstGeom>
          <a:solidFill>
            <a:srgbClr val="F0F0F5"/>
          </a:solidFill>
          <a:ln/>
        </p:spPr>
      </p:sp>
      <p:sp>
        <p:nvSpPr>
          <p:cNvPr id="12" name="Shape 10"/>
          <p:cNvSpPr/>
          <p:nvPr/>
        </p:nvSpPr>
        <p:spPr>
          <a:xfrm>
            <a:off x="4114800" y="1554480"/>
            <a:ext cx="1188720" cy="1188720"/>
          </a:xfrm>
          <a:prstGeom prst="roundRect">
            <a:avLst>
              <a:gd name="adj" fmla="val 50000"/>
            </a:avLst>
          </a:prstGeom>
          <a:solidFill>
            <a:srgbClr val="0F3460"/>
          </a:solidFill>
          <a:ln/>
        </p:spPr>
      </p:sp>
      <p:sp>
        <p:nvSpPr>
          <p:cNvPr id="13" name="Text 11"/>
          <p:cNvSpPr/>
          <p:nvPr/>
        </p:nvSpPr>
        <p:spPr>
          <a:xfrm>
            <a:off x="4114800" y="1554480"/>
            <a:ext cx="118872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</a:t>
            </a:r>
            <a:endParaRPr lang="en-US" sz="2800" dirty="0"/>
          </a:p>
        </p:txBody>
      </p:sp>
      <p:sp>
        <p:nvSpPr>
          <p:cNvPr id="14" name="Text 12"/>
          <p:cNvSpPr/>
          <p:nvPr/>
        </p:nvSpPr>
        <p:spPr>
          <a:xfrm>
            <a:off x="3520440" y="2926080"/>
            <a:ext cx="23774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Aiseki</a:t>
            </a:r>
            <a:endParaRPr lang="en-US" sz="2000" dirty="0"/>
          </a:p>
        </p:txBody>
      </p:sp>
      <p:sp>
        <p:nvSpPr>
          <p:cNvPr id="15" name="Text 13"/>
          <p:cNvSpPr/>
          <p:nvPr/>
        </p:nvSpPr>
        <p:spPr>
          <a:xfrm>
            <a:off x="3931920" y="3291840"/>
            <a:ext cx="1554480" cy="320040"/>
          </a:xfrm>
          <a:prstGeom prst="roundRect">
            <a:avLst>
              <a:gd name="adj" fmla="val 14286"/>
            </a:avLst>
          </a:prstGeom>
          <a:solidFill>
            <a:srgbClr val="E8A317"/>
          </a:solidFill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完成度 70%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3520440" y="3703320"/>
            <a:ext cx="23774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8E8E9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相席マッチング</a:t>
            </a:r>
            <a:endParaRPr lang="en-US" sz="1100" dirty="0"/>
          </a:p>
          <a:p>
            <a:pPr algn="ctr" indent="0" marL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8E8E9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グループ限定アプリ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3520440" y="4206240"/>
            <a:ext cx="23774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3498D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aiseki-xi.vercel.app</a:t>
            </a:r>
            <a:endParaRPr lang="en-US" sz="900" dirty="0"/>
          </a:p>
        </p:txBody>
      </p:sp>
      <p:sp>
        <p:nvSpPr>
          <p:cNvPr id="18" name="Shape 16"/>
          <p:cNvSpPr/>
          <p:nvPr/>
        </p:nvSpPr>
        <p:spPr>
          <a:xfrm>
            <a:off x="6217920" y="1280160"/>
            <a:ext cx="2651760" cy="3291840"/>
          </a:xfrm>
          <a:prstGeom prst="roundRect">
            <a:avLst>
              <a:gd name="adj" fmla="val 5172"/>
            </a:avLst>
          </a:prstGeom>
          <a:solidFill>
            <a:srgbClr val="F0F0F5"/>
          </a:solidFill>
          <a:ln/>
        </p:spPr>
      </p:sp>
      <p:sp>
        <p:nvSpPr>
          <p:cNvPr id="19" name="Shape 17"/>
          <p:cNvSpPr/>
          <p:nvPr/>
        </p:nvSpPr>
        <p:spPr>
          <a:xfrm>
            <a:off x="6949440" y="1554480"/>
            <a:ext cx="1188720" cy="1188720"/>
          </a:xfrm>
          <a:prstGeom prst="roundRect">
            <a:avLst>
              <a:gd name="adj" fmla="val 50000"/>
            </a:avLst>
          </a:prstGeom>
          <a:solidFill>
            <a:srgbClr val="0F3460"/>
          </a:solidFill>
          <a:ln/>
        </p:spPr>
      </p:sp>
      <p:sp>
        <p:nvSpPr>
          <p:cNvPr id="20" name="Text 18"/>
          <p:cNvSpPr/>
          <p:nvPr/>
        </p:nvSpPr>
        <p:spPr>
          <a:xfrm>
            <a:off x="6949440" y="1554480"/>
            <a:ext cx="118872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OR</a:t>
            </a:r>
            <a:endParaRPr lang="en-US" sz="2800" dirty="0"/>
          </a:p>
        </p:txBody>
      </p:sp>
      <p:sp>
        <p:nvSpPr>
          <p:cNvPr id="21" name="Text 19"/>
          <p:cNvSpPr/>
          <p:nvPr/>
        </p:nvSpPr>
        <p:spPr>
          <a:xfrm>
            <a:off x="6355080" y="2926080"/>
            <a:ext cx="23774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Oripa</a:t>
            </a:r>
            <a:endParaRPr lang="en-US" sz="2000" dirty="0"/>
          </a:p>
        </p:txBody>
      </p:sp>
      <p:sp>
        <p:nvSpPr>
          <p:cNvPr id="22" name="Text 20"/>
          <p:cNvSpPr/>
          <p:nvPr/>
        </p:nvSpPr>
        <p:spPr>
          <a:xfrm>
            <a:off x="6766560" y="3291840"/>
            <a:ext cx="1554480" cy="320040"/>
          </a:xfrm>
          <a:prstGeom prst="roundRect">
            <a:avLst>
              <a:gd name="adj" fmla="val 14286"/>
            </a:avLst>
          </a:prstGeom>
          <a:solidFill>
            <a:srgbClr val="E74C3C"/>
          </a:solidFill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完成度 55%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6355080" y="3703320"/>
            <a:ext cx="23774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8E8E9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オンラインオリパ</a:t>
            </a:r>
            <a:endParaRPr lang="en-US" sz="1100" dirty="0"/>
          </a:p>
          <a:p>
            <a:pPr algn="ctr" indent="0" marL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8E8E9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TCGガチャ</a:t>
            </a:r>
            <a:endParaRPr lang="en-US" sz="1100" dirty="0"/>
          </a:p>
        </p:txBody>
      </p:sp>
      <p:sp>
        <p:nvSpPr>
          <p:cNvPr id="24" name="Text 22"/>
          <p:cNvSpPr/>
          <p:nvPr/>
        </p:nvSpPr>
        <p:spPr>
          <a:xfrm>
            <a:off x="6355080" y="4206240"/>
            <a:ext cx="23774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3498D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未デプロイ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74320"/>
            <a:ext cx="6400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FanUp — クリエイター支援CF</a:t>
            </a:r>
            <a:endParaRPr lang="en-US" sz="2600" dirty="0"/>
          </a:p>
        </p:txBody>
      </p:sp>
      <p:sp>
        <p:nvSpPr>
          <p:cNvPr id="3" name="Text 1"/>
          <p:cNvSpPr/>
          <p:nvPr/>
        </p:nvSpPr>
        <p:spPr>
          <a:xfrm>
            <a:off x="548640" y="777240"/>
            <a:ext cx="6400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8E8E9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fanup-rouge.vercel.app  |  Next.js + Supabase + Stripe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548640" y="1051560"/>
            <a:ext cx="1828800" cy="36576"/>
          </a:xfrm>
          <a:prstGeom prst="rect">
            <a:avLst/>
          </a:prstGeom>
          <a:solidFill>
            <a:srgbClr val="E94560"/>
          </a:solidFill>
          <a:ln/>
        </p:spPr>
      </p:sp>
      <p:sp>
        <p:nvSpPr>
          <p:cNvPr id="5" name="Shape 3"/>
          <p:cNvSpPr/>
          <p:nvPr/>
        </p:nvSpPr>
        <p:spPr>
          <a:xfrm>
            <a:off x="6858000" y="365760"/>
            <a:ext cx="1828800" cy="137160"/>
          </a:xfrm>
          <a:prstGeom prst="roundRect">
            <a:avLst>
              <a:gd name="adj" fmla="val 46667"/>
            </a:avLst>
          </a:prstGeom>
          <a:solidFill>
            <a:srgbClr val="E0E0E0"/>
          </a:solidFill>
          <a:ln/>
        </p:spPr>
      </p:sp>
      <p:sp>
        <p:nvSpPr>
          <p:cNvPr id="6" name="Shape 4"/>
          <p:cNvSpPr/>
          <p:nvPr/>
        </p:nvSpPr>
        <p:spPr>
          <a:xfrm>
            <a:off x="6858000" y="365760"/>
            <a:ext cx="1554480" cy="137160"/>
          </a:xfrm>
          <a:prstGeom prst="roundRect">
            <a:avLst>
              <a:gd name="adj" fmla="val 46667"/>
            </a:avLst>
          </a:prstGeom>
          <a:solidFill>
            <a:srgbClr val="27AE60"/>
          </a:solidFill>
          <a:ln/>
        </p:spPr>
      </p:sp>
      <p:sp>
        <p:nvSpPr>
          <p:cNvPr id="7" name="Text 5"/>
          <p:cNvSpPr/>
          <p:nvPr/>
        </p:nvSpPr>
        <p:spPr>
          <a:xfrm>
            <a:off x="6858000" y="502920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27AE6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85%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548640" y="1280160"/>
            <a:ext cx="3840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実装済み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548640" y="1691640"/>
            <a:ext cx="38404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200" dirty="0">
                <a:solidFill>
                  <a:srgbClr val="27AE6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✔  </a:t>
            </a:r>
            <a:pPr indent="0" marL="0">
              <a:lnSpc>
                <a:spcPct val="110000"/>
              </a:lnSpc>
              <a:buNone/>
            </a:pPr>
            <a:r>
              <a:rPr lang="en-US" sz="1200" dirty="0">
                <a:solidFill>
                  <a:srgbClr val="27AE6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Stripe Checkout決済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548640" y="2039112"/>
            <a:ext cx="38404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200" dirty="0">
                <a:solidFill>
                  <a:srgbClr val="27AE6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✔  </a:t>
            </a:r>
            <a:pPr indent="0" marL="0">
              <a:lnSpc>
                <a:spcPct val="110000"/>
              </a:lnSpc>
              <a:buNone/>
            </a:pPr>
            <a:r>
              <a:rPr lang="en-US" sz="1200" dirty="0">
                <a:solidFill>
                  <a:srgbClr val="27AE6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Webhook処理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548640" y="2386584"/>
            <a:ext cx="38404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200" dirty="0">
                <a:solidFill>
                  <a:srgbClr val="27AE6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✔  </a:t>
            </a:r>
            <a:pPr indent="0" marL="0">
              <a:lnSpc>
                <a:spcPct val="110000"/>
              </a:lnSpc>
              <a:buNone/>
            </a:pPr>
            <a:r>
              <a:rPr lang="en-US" sz="1200" dirty="0">
                <a:solidFill>
                  <a:srgbClr val="27AE6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メール通知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548640" y="2734056"/>
            <a:ext cx="38404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200" dirty="0">
                <a:solidFill>
                  <a:srgbClr val="27AE6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✔  </a:t>
            </a:r>
            <a:pPr indent="0" marL="0">
              <a:lnSpc>
                <a:spcPct val="110000"/>
              </a:lnSpc>
              <a:buNone/>
            </a:pPr>
            <a:r>
              <a:rPr lang="en-US" sz="1200" dirty="0">
                <a:solidFill>
                  <a:srgbClr val="27AE6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Cronジョブ（期限管理）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548640" y="3081528"/>
            <a:ext cx="38404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200" dirty="0">
                <a:solidFill>
                  <a:srgbClr val="27AE6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✔  </a:t>
            </a:r>
            <a:pPr indent="0" marL="0">
              <a:lnSpc>
                <a:spcPct val="110000"/>
              </a:lnSpc>
              <a:buNone/>
            </a:pPr>
            <a:r>
              <a:rPr lang="en-US" sz="1200" dirty="0">
                <a:solidFill>
                  <a:srgbClr val="27AE6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プロジェクト作成・一覧・詳細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548640" y="3429000"/>
            <a:ext cx="38404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200" dirty="0">
                <a:solidFill>
                  <a:srgbClr val="27AE6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✔  </a:t>
            </a:r>
            <a:pPr indent="0" marL="0">
              <a:lnSpc>
                <a:spcPct val="110000"/>
              </a:lnSpc>
              <a:buNone/>
            </a:pPr>
            <a:r>
              <a:rPr lang="en-US" sz="1200" dirty="0">
                <a:solidFill>
                  <a:srgbClr val="27AE6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Vercelデプロイ済み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4663440" y="1280160"/>
            <a:ext cx="3840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次のアクション</a:t>
            </a:r>
            <a:endParaRPr lang="en-US" sz="1500" dirty="0"/>
          </a:p>
        </p:txBody>
      </p:sp>
      <p:sp>
        <p:nvSpPr>
          <p:cNvPr id="16" name="Text 14"/>
          <p:cNvSpPr/>
          <p:nvPr/>
        </p:nvSpPr>
        <p:spPr>
          <a:xfrm>
            <a:off x="4663440" y="1691640"/>
            <a:ext cx="38404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200" dirty="0">
                <a:solidFill>
                  <a:srgbClr val="E9456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○  </a:t>
            </a:r>
            <a:pPr indent="0" marL="0">
              <a:lnSpc>
                <a:spcPct val="110000"/>
              </a:lnSpc>
              <a:buNone/>
            </a:pPr>
            <a:r>
              <a:rPr lang="en-US" sz="12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Stripe Connect（出金機能）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4663440" y="2039112"/>
            <a:ext cx="38404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200" dirty="0">
                <a:solidFill>
                  <a:srgbClr val="E9456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○  </a:t>
            </a:r>
            <a:pPr indent="0" marL="0">
              <a:lnSpc>
                <a:spcPct val="110000"/>
              </a:lnSpc>
              <a:buNone/>
            </a:pPr>
            <a:r>
              <a:rPr lang="en-US" sz="12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LP改善・SEO対策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4663440" y="2386584"/>
            <a:ext cx="38404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200" dirty="0">
                <a:solidFill>
                  <a:srgbClr val="E9456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○  </a:t>
            </a:r>
            <a:pPr indent="0" marL="0">
              <a:lnSpc>
                <a:spcPct val="110000"/>
              </a:lnSpc>
              <a:buNone/>
            </a:pPr>
            <a:r>
              <a:rPr lang="en-US" sz="12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クリエイター獲得営業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4663440" y="2734056"/>
            <a:ext cx="38404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200" dirty="0">
                <a:solidFill>
                  <a:srgbClr val="E9456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○  </a:t>
            </a:r>
            <a:pPr indent="0" marL="0">
              <a:lnSpc>
                <a:spcPct val="110000"/>
              </a:lnSpc>
              <a:buNone/>
            </a:pPr>
            <a:r>
              <a:rPr lang="en-US" sz="12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SNS集客（X/Twitter）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4663440" y="3081528"/>
            <a:ext cx="38404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200" dirty="0">
                <a:solidFill>
                  <a:srgbClr val="E9456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○  </a:t>
            </a:r>
            <a:pPr indent="0" marL="0">
              <a:lnSpc>
                <a:spcPct val="110000"/>
              </a:lnSpc>
              <a:buNone/>
            </a:pPr>
            <a:r>
              <a:rPr lang="en-US" sz="12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利用規約・プライバシーポリシー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4663440" y="3429000"/>
            <a:ext cx="38404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200" dirty="0">
                <a:solidFill>
                  <a:srgbClr val="E9456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○  </a:t>
            </a:r>
            <a:pPr indent="0" marL="0">
              <a:lnSpc>
                <a:spcPct val="110000"/>
              </a:lnSpc>
              <a:buNone/>
            </a:pPr>
            <a:r>
              <a:rPr lang="en-US" sz="12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β版公開・フィードバック収集</a:t>
            </a:r>
            <a:endParaRPr lang="en-US" sz="1200" dirty="0"/>
          </a:p>
        </p:txBody>
      </p:sp>
      <p:sp>
        <p:nvSpPr>
          <p:cNvPr id="22" name="Shape 20"/>
          <p:cNvSpPr/>
          <p:nvPr/>
        </p:nvSpPr>
        <p:spPr>
          <a:xfrm>
            <a:off x="548640" y="4114800"/>
            <a:ext cx="8046720" cy="640080"/>
          </a:xfrm>
          <a:prstGeom prst="roundRect">
            <a:avLst>
              <a:gd name="adj" fmla="val 11429"/>
            </a:avLst>
          </a:prstGeom>
          <a:solidFill>
            <a:srgbClr val="F0F0F5"/>
          </a:solidFill>
          <a:ln/>
        </p:spPr>
      </p:sp>
      <p:sp>
        <p:nvSpPr>
          <p:cNvPr id="23" name="Text 21"/>
          <p:cNvSpPr/>
          <p:nvPr/>
        </p:nvSpPr>
        <p:spPr>
          <a:xfrm>
            <a:off x="731520" y="4160520"/>
            <a:ext cx="76809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最優先: Stripe Connectを実装すればクリエイターへの出金が可能に → 集客の前提条件</a:t>
            </a:r>
            <a:endParaRPr lang="en-US" sz="12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74320"/>
            <a:ext cx="6400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Aiseki — 相席マッチング</a:t>
            </a:r>
            <a:endParaRPr lang="en-US" sz="2600" dirty="0"/>
          </a:p>
        </p:txBody>
      </p:sp>
      <p:sp>
        <p:nvSpPr>
          <p:cNvPr id="3" name="Text 1"/>
          <p:cNvSpPr/>
          <p:nvPr/>
        </p:nvSpPr>
        <p:spPr>
          <a:xfrm>
            <a:off x="548640" y="777240"/>
            <a:ext cx="6400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8E8E9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aiseki-xi.vercel.app  |  Next.js + Supabase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548640" y="1051560"/>
            <a:ext cx="1828800" cy="36576"/>
          </a:xfrm>
          <a:prstGeom prst="rect">
            <a:avLst/>
          </a:prstGeom>
          <a:solidFill>
            <a:srgbClr val="E94560"/>
          </a:solidFill>
          <a:ln/>
        </p:spPr>
      </p:sp>
      <p:sp>
        <p:nvSpPr>
          <p:cNvPr id="5" name="Shape 3"/>
          <p:cNvSpPr/>
          <p:nvPr/>
        </p:nvSpPr>
        <p:spPr>
          <a:xfrm>
            <a:off x="6858000" y="365760"/>
            <a:ext cx="1828800" cy="137160"/>
          </a:xfrm>
          <a:prstGeom prst="roundRect">
            <a:avLst>
              <a:gd name="adj" fmla="val 46667"/>
            </a:avLst>
          </a:prstGeom>
          <a:solidFill>
            <a:srgbClr val="E0E0E0"/>
          </a:solidFill>
          <a:ln/>
        </p:spPr>
      </p:sp>
      <p:sp>
        <p:nvSpPr>
          <p:cNvPr id="6" name="Shape 4"/>
          <p:cNvSpPr/>
          <p:nvPr/>
        </p:nvSpPr>
        <p:spPr>
          <a:xfrm>
            <a:off x="6858000" y="365760"/>
            <a:ext cx="1280160" cy="137160"/>
          </a:xfrm>
          <a:prstGeom prst="roundRect">
            <a:avLst>
              <a:gd name="adj" fmla="val 46667"/>
            </a:avLst>
          </a:prstGeom>
          <a:solidFill>
            <a:srgbClr val="E8A317"/>
          </a:solidFill>
          <a:ln/>
        </p:spPr>
      </p:sp>
      <p:sp>
        <p:nvSpPr>
          <p:cNvPr id="7" name="Text 5"/>
          <p:cNvSpPr/>
          <p:nvPr/>
        </p:nvSpPr>
        <p:spPr>
          <a:xfrm>
            <a:off x="6858000" y="502920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E8A31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70%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548640" y="1280160"/>
            <a:ext cx="3840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実装済み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548640" y="1691640"/>
            <a:ext cx="38404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200" dirty="0">
                <a:solidFill>
                  <a:srgbClr val="27AE6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✔  </a:t>
            </a:r>
            <a:pPr indent="0" marL="0">
              <a:lnSpc>
                <a:spcPct val="110000"/>
              </a:lnSpc>
              <a:buNone/>
            </a:pPr>
            <a:r>
              <a:rPr lang="en-US" sz="1200" dirty="0">
                <a:solidFill>
                  <a:srgbClr val="27AE6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会（パーティー）作成・一覧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548640" y="2039112"/>
            <a:ext cx="38404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200" dirty="0">
                <a:solidFill>
                  <a:srgbClr val="27AE6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✔  </a:t>
            </a:r>
            <a:pPr indent="0" marL="0">
              <a:lnSpc>
                <a:spcPct val="110000"/>
              </a:lnSpc>
              <a:buNone/>
            </a:pPr>
            <a:r>
              <a:rPr lang="en-US" sz="1200" dirty="0">
                <a:solidFill>
                  <a:srgbClr val="27AE6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参加リクエスト・承認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548640" y="2386584"/>
            <a:ext cx="38404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200" dirty="0">
                <a:solidFill>
                  <a:srgbClr val="27AE6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✔  </a:t>
            </a:r>
            <a:pPr indent="0" marL="0">
              <a:lnSpc>
                <a:spcPct val="110000"/>
              </a:lnSpc>
              <a:buNone/>
            </a:pPr>
            <a:r>
              <a:rPr lang="en-US" sz="1200" dirty="0">
                <a:solidFill>
                  <a:srgbClr val="27AE6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グループ限定マイグレーション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548640" y="2734056"/>
            <a:ext cx="38404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200" dirty="0">
                <a:solidFill>
                  <a:srgbClr val="27AE6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✔  </a:t>
            </a:r>
            <a:pPr indent="0" marL="0">
              <a:lnSpc>
                <a:spcPct val="110000"/>
              </a:lnSpc>
              <a:buNone/>
            </a:pPr>
            <a:r>
              <a:rPr lang="en-US" sz="1200" dirty="0">
                <a:solidFill>
                  <a:srgbClr val="27AE6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ポイントシステム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548640" y="3081528"/>
            <a:ext cx="38404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200" dirty="0">
                <a:solidFill>
                  <a:srgbClr val="27AE6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✔  </a:t>
            </a:r>
            <a:pPr indent="0" marL="0">
              <a:lnSpc>
                <a:spcPct val="110000"/>
              </a:lnSpc>
              <a:buNone/>
            </a:pPr>
            <a:r>
              <a:rPr lang="en-US" sz="1200" dirty="0">
                <a:solidFill>
                  <a:srgbClr val="27AE6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リアルタイムチャット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548640" y="3429000"/>
            <a:ext cx="38404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200" dirty="0">
                <a:solidFill>
                  <a:srgbClr val="27AE6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✔  </a:t>
            </a:r>
            <a:pPr indent="0" marL="0">
              <a:lnSpc>
                <a:spcPct val="110000"/>
              </a:lnSpc>
              <a:buNone/>
            </a:pPr>
            <a:r>
              <a:rPr lang="en-US" sz="1200" dirty="0">
                <a:solidFill>
                  <a:srgbClr val="27AE6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Vercelデプロイ済み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4663440" y="1280160"/>
            <a:ext cx="3840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次のアクション</a:t>
            </a:r>
            <a:endParaRPr lang="en-US" sz="1500" dirty="0"/>
          </a:p>
        </p:txBody>
      </p:sp>
      <p:sp>
        <p:nvSpPr>
          <p:cNvPr id="16" name="Text 14"/>
          <p:cNvSpPr/>
          <p:nvPr/>
        </p:nvSpPr>
        <p:spPr>
          <a:xfrm>
            <a:off x="4663440" y="1691640"/>
            <a:ext cx="38404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200" dirty="0">
                <a:solidFill>
                  <a:srgbClr val="E9456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○  </a:t>
            </a:r>
            <a:pPr indent="0" marL="0">
              <a:lnSpc>
                <a:spcPct val="110000"/>
              </a:lnSpc>
              <a:buNone/>
            </a:pPr>
            <a:r>
              <a:rPr lang="en-US" sz="12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グループメンバー登録ロジック修正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4663440" y="2039112"/>
            <a:ext cx="38404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200" dirty="0">
                <a:solidFill>
                  <a:srgbClr val="E9456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○  </a:t>
            </a:r>
            <a:pPr indent="0" marL="0">
              <a:lnSpc>
                <a:spcPct val="110000"/>
              </a:lnSpc>
              <a:buNone/>
            </a:pPr>
            <a:r>
              <a:rPr lang="en-US" sz="12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Vercel環境変数確認・更新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4663440" y="2386584"/>
            <a:ext cx="38404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200" dirty="0">
                <a:solidFill>
                  <a:srgbClr val="E9456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○  </a:t>
            </a:r>
            <a:pPr indent="0" marL="0">
              <a:lnSpc>
                <a:spcPct val="110000"/>
              </a:lnSpc>
              <a:buNone/>
            </a:pPr>
            <a:r>
              <a:rPr lang="en-US" sz="12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フロント側グループUI最終調整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4663440" y="2734056"/>
            <a:ext cx="38404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200" dirty="0">
                <a:solidFill>
                  <a:srgbClr val="E9456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○  </a:t>
            </a:r>
            <a:pPr indent="0" marL="0">
              <a:lnSpc>
                <a:spcPct val="110000"/>
              </a:lnSpc>
              <a:buNone/>
            </a:pPr>
            <a:r>
              <a:rPr lang="en-US" sz="12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E2Eテスト（作成→申請→承認→チャット）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4663440" y="3081528"/>
            <a:ext cx="38404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200" dirty="0">
                <a:solidFill>
                  <a:srgbClr val="E9456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○  </a:t>
            </a:r>
            <a:pPr indent="0" marL="0">
              <a:lnSpc>
                <a:spcPct val="110000"/>
              </a:lnSpc>
              <a:buNone/>
            </a:pPr>
            <a:r>
              <a:rPr lang="en-US" sz="12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利用規約・プライバシーポリシー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4663440" y="3429000"/>
            <a:ext cx="38404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200" dirty="0">
                <a:solidFill>
                  <a:srgbClr val="E9456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○  </a:t>
            </a:r>
            <a:pPr indent="0" marL="0">
              <a:lnSpc>
                <a:spcPct val="110000"/>
              </a:lnSpc>
              <a:buNone/>
            </a:pPr>
            <a:r>
              <a:rPr lang="en-US" sz="12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初期ユーザー獲得（大学サークル等）</a:t>
            </a:r>
            <a:endParaRPr lang="en-US" sz="1200" dirty="0"/>
          </a:p>
        </p:txBody>
      </p:sp>
      <p:sp>
        <p:nvSpPr>
          <p:cNvPr id="22" name="Shape 20"/>
          <p:cNvSpPr/>
          <p:nvPr/>
        </p:nvSpPr>
        <p:spPr>
          <a:xfrm>
            <a:off x="548640" y="4114800"/>
            <a:ext cx="8046720" cy="640080"/>
          </a:xfrm>
          <a:prstGeom prst="roundRect">
            <a:avLst>
              <a:gd name="adj" fmla="val 11429"/>
            </a:avLst>
          </a:prstGeom>
          <a:solidFill>
            <a:srgbClr val="F0F0F5"/>
          </a:solidFill>
          <a:ln/>
        </p:spPr>
      </p:sp>
      <p:sp>
        <p:nvSpPr>
          <p:cNvPr id="23" name="Text 21"/>
          <p:cNvSpPr/>
          <p:nvPr/>
        </p:nvSpPr>
        <p:spPr>
          <a:xfrm>
            <a:off x="731520" y="4160520"/>
            <a:ext cx="76809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注意: グループ限定DB制約は適用済み。フロント側UIがグループサイズ入力に対応済みか最終確認が必要</a:t>
            </a:r>
            <a:endParaRPr lang="en-US" sz="12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74320"/>
            <a:ext cx="6400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Oripa — オンラインオリパ</a:t>
            </a:r>
            <a:endParaRPr lang="en-US" sz="2600" dirty="0"/>
          </a:p>
        </p:txBody>
      </p:sp>
      <p:sp>
        <p:nvSpPr>
          <p:cNvPr id="3" name="Text 1"/>
          <p:cNvSpPr/>
          <p:nvPr/>
        </p:nvSpPr>
        <p:spPr>
          <a:xfrm>
            <a:off x="548640" y="777240"/>
            <a:ext cx="6400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8E8E9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未デプロイ  |  Next.js + Supabase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548640" y="1051560"/>
            <a:ext cx="1828800" cy="36576"/>
          </a:xfrm>
          <a:prstGeom prst="rect">
            <a:avLst/>
          </a:prstGeom>
          <a:solidFill>
            <a:srgbClr val="E94560"/>
          </a:solidFill>
          <a:ln/>
        </p:spPr>
      </p:sp>
      <p:sp>
        <p:nvSpPr>
          <p:cNvPr id="5" name="Shape 3"/>
          <p:cNvSpPr/>
          <p:nvPr/>
        </p:nvSpPr>
        <p:spPr>
          <a:xfrm>
            <a:off x="6858000" y="365760"/>
            <a:ext cx="1828800" cy="137160"/>
          </a:xfrm>
          <a:prstGeom prst="roundRect">
            <a:avLst>
              <a:gd name="adj" fmla="val 46667"/>
            </a:avLst>
          </a:prstGeom>
          <a:solidFill>
            <a:srgbClr val="E0E0E0"/>
          </a:solidFill>
          <a:ln/>
        </p:spPr>
      </p:sp>
      <p:sp>
        <p:nvSpPr>
          <p:cNvPr id="6" name="Shape 4"/>
          <p:cNvSpPr/>
          <p:nvPr/>
        </p:nvSpPr>
        <p:spPr>
          <a:xfrm>
            <a:off x="6858000" y="365760"/>
            <a:ext cx="1005840" cy="137160"/>
          </a:xfrm>
          <a:prstGeom prst="roundRect">
            <a:avLst>
              <a:gd name="adj" fmla="val 46667"/>
            </a:avLst>
          </a:prstGeom>
          <a:solidFill>
            <a:srgbClr val="E74C3C"/>
          </a:solidFill>
          <a:ln/>
        </p:spPr>
      </p:sp>
      <p:sp>
        <p:nvSpPr>
          <p:cNvPr id="7" name="Text 5"/>
          <p:cNvSpPr/>
          <p:nvPr/>
        </p:nvSpPr>
        <p:spPr>
          <a:xfrm>
            <a:off x="6858000" y="502920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E74C3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55%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548640" y="1280160"/>
            <a:ext cx="3840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実装済み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548640" y="1691640"/>
            <a:ext cx="38404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200" dirty="0">
                <a:solidFill>
                  <a:srgbClr val="27AE6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✔  </a:t>
            </a:r>
            <a:pPr indent="0" marL="0">
              <a:lnSpc>
                <a:spcPct val="110000"/>
              </a:lnSpc>
              <a:buNone/>
            </a:pPr>
            <a:r>
              <a:rPr lang="en-US" sz="1200" dirty="0">
                <a:solidFill>
                  <a:srgbClr val="27AE6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ガチャ演出（アニメーション）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548640" y="2039112"/>
            <a:ext cx="38404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200" dirty="0">
                <a:solidFill>
                  <a:srgbClr val="27AE6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✔  </a:t>
            </a:r>
            <a:pPr indent="0" marL="0">
              <a:lnSpc>
                <a:spcPct val="110000"/>
              </a:lnSpc>
              <a:buNone/>
            </a:pPr>
            <a:r>
              <a:rPr lang="en-US" sz="1200" dirty="0">
                <a:solidFill>
                  <a:srgbClr val="27AE6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管理画面（オリパ作成・管理）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548640" y="2386584"/>
            <a:ext cx="38404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200" dirty="0">
                <a:solidFill>
                  <a:srgbClr val="27AE6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✔  </a:t>
            </a:r>
            <a:pPr indent="0" marL="0">
              <a:lnSpc>
                <a:spcPct val="110000"/>
              </a:lnSpc>
              <a:buNone/>
            </a:pPr>
            <a:r>
              <a:rPr lang="en-US" sz="1200" dirty="0">
                <a:solidFill>
                  <a:srgbClr val="27AE6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カード一覧・詳細表示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548640" y="2734056"/>
            <a:ext cx="38404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200" dirty="0">
                <a:solidFill>
                  <a:srgbClr val="27AE6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✔  </a:t>
            </a:r>
            <a:pPr indent="0" marL="0">
              <a:lnSpc>
                <a:spcPct val="110000"/>
              </a:lnSpc>
              <a:buNone/>
            </a:pPr>
            <a:r>
              <a:rPr lang="en-US" sz="1200" dirty="0">
                <a:solidFill>
                  <a:srgbClr val="27AE6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ユーザー認証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548640" y="3081528"/>
            <a:ext cx="38404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200" dirty="0">
                <a:solidFill>
                  <a:srgbClr val="27AE6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✔  </a:t>
            </a:r>
            <a:pPr indent="0" marL="0">
              <a:lnSpc>
                <a:spcPct val="110000"/>
              </a:lnSpc>
              <a:buNone/>
            </a:pPr>
            <a:r>
              <a:rPr lang="en-US" sz="1200" dirty="0">
                <a:solidFill>
                  <a:srgbClr val="27AE6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基本UI・レスポンシブ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4663440" y="1280160"/>
            <a:ext cx="3840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次のアクション</a:t>
            </a:r>
            <a:endParaRPr lang="en-US" sz="1500" dirty="0"/>
          </a:p>
        </p:txBody>
      </p:sp>
      <p:sp>
        <p:nvSpPr>
          <p:cNvPr id="15" name="Text 13"/>
          <p:cNvSpPr/>
          <p:nvPr/>
        </p:nvSpPr>
        <p:spPr>
          <a:xfrm>
            <a:off x="4663440" y="1691640"/>
            <a:ext cx="38404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200" dirty="0">
                <a:solidFill>
                  <a:srgbClr val="E9456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○  </a:t>
            </a:r>
            <a:pPr indent="0" marL="0">
              <a:lnSpc>
                <a:spcPct val="110000"/>
              </a:lnSpc>
              <a:buNone/>
            </a:pPr>
            <a:r>
              <a:rPr lang="en-US" sz="12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Stripe決済連携（必須）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4663440" y="2039112"/>
            <a:ext cx="38404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200" dirty="0">
                <a:solidFill>
                  <a:srgbClr val="E9456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○  </a:t>
            </a:r>
            <a:pPr indent="0" marL="0">
              <a:lnSpc>
                <a:spcPct val="110000"/>
              </a:lnSpc>
              <a:buNone/>
            </a:pPr>
            <a:r>
              <a:rPr lang="en-US" sz="12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vercel.json作成・デプロイ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4663440" y="2386584"/>
            <a:ext cx="38404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200" dirty="0">
                <a:solidFill>
                  <a:srgbClr val="E9456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○  </a:t>
            </a:r>
            <a:pPr indent="0" marL="0">
              <a:lnSpc>
                <a:spcPct val="110000"/>
              </a:lnSpc>
              <a:buNone/>
            </a:pPr>
            <a:r>
              <a:rPr lang="en-US" sz="12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景品表示法の確認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4663440" y="2734056"/>
            <a:ext cx="38404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200" dirty="0">
                <a:solidFill>
                  <a:srgbClr val="E9456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○  </a:t>
            </a:r>
            <a:pPr indent="0" marL="0">
              <a:lnSpc>
                <a:spcPct val="110000"/>
              </a:lnSpc>
              <a:buNone/>
            </a:pPr>
            <a:r>
              <a:rPr lang="en-US" sz="12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特定商取引法に基づく表記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4663440" y="3081528"/>
            <a:ext cx="38404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200" dirty="0">
                <a:solidFill>
                  <a:srgbClr val="E9456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○  </a:t>
            </a:r>
            <a:pPr indent="0" marL="0">
              <a:lnSpc>
                <a:spcPct val="110000"/>
              </a:lnSpc>
              <a:buNone/>
            </a:pPr>
            <a:r>
              <a:rPr lang="en-US" sz="12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年齢確認・利用規約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4663440" y="3429000"/>
            <a:ext cx="38404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200" dirty="0">
                <a:solidFill>
                  <a:srgbClr val="E9456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○  </a:t>
            </a:r>
            <a:pPr indent="0" marL="0">
              <a:lnSpc>
                <a:spcPct val="110000"/>
              </a:lnSpc>
              <a:buNone/>
            </a:pPr>
            <a:r>
              <a:rPr lang="en-US" sz="12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テスト用オリパ作成・動作確認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4663440" y="3776472"/>
            <a:ext cx="38404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200" dirty="0">
                <a:solidFill>
                  <a:srgbClr val="E9456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○  </a:t>
            </a:r>
            <a:pPr indent="0" marL="0">
              <a:lnSpc>
                <a:spcPct val="110000"/>
              </a:lnSpc>
              <a:buNone/>
            </a:pPr>
            <a:r>
              <a:rPr lang="en-US" sz="12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集客・マーケティング</a:t>
            </a:r>
            <a:endParaRPr lang="en-US" sz="12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7432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YouTube Factory — 状況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548640" y="868680"/>
            <a:ext cx="1828800" cy="36576"/>
          </a:xfrm>
          <a:prstGeom prst="rect">
            <a:avLst/>
          </a:prstGeom>
          <a:solidFill>
            <a:srgbClr val="E94560"/>
          </a:solidFill>
          <a:ln/>
        </p:spPr>
      </p:sp>
      <p:sp>
        <p:nvSpPr>
          <p:cNvPr id="4" name="Shape 2"/>
          <p:cNvSpPr/>
          <p:nvPr/>
        </p:nvSpPr>
        <p:spPr>
          <a:xfrm>
            <a:off x="548640" y="1280160"/>
            <a:ext cx="1965960" cy="2194560"/>
          </a:xfrm>
          <a:prstGeom prst="roundRect">
            <a:avLst>
              <a:gd name="adj" fmla="val 4651"/>
            </a:avLst>
          </a:prstGeom>
          <a:solidFill>
            <a:srgbClr val="F0F0F5"/>
          </a:solidFill>
          <a:ln/>
        </p:spPr>
      </p:sp>
      <p:sp>
        <p:nvSpPr>
          <p:cNvPr id="5" name="Text 3"/>
          <p:cNvSpPr/>
          <p:nvPr/>
        </p:nvSpPr>
        <p:spPr>
          <a:xfrm>
            <a:off x="640080" y="1417320"/>
            <a:ext cx="17830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日常科学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640080" y="1783080"/>
            <a:ext cx="1783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E8E9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@daily-science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640080" y="2148840"/>
            <a:ext cx="17830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47人</a:t>
            </a:r>
            <a:endParaRPr lang="en-US" sz="2200" dirty="0"/>
          </a:p>
        </p:txBody>
      </p:sp>
      <p:sp>
        <p:nvSpPr>
          <p:cNvPr id="8" name="Text 6"/>
          <p:cNvSpPr/>
          <p:nvPr/>
        </p:nvSpPr>
        <p:spPr>
          <a:xfrm>
            <a:off x="1005840" y="2743200"/>
            <a:ext cx="1051560" cy="274320"/>
          </a:xfrm>
          <a:prstGeom prst="roundRect">
            <a:avLst>
              <a:gd name="adj" fmla="val 16667"/>
            </a:avLst>
          </a:prstGeom>
          <a:solidFill>
            <a:srgbClr val="27AE60"/>
          </a:solidFill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稼働中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2697480" y="1280160"/>
            <a:ext cx="1965960" cy="2194560"/>
          </a:xfrm>
          <a:prstGeom prst="roundRect">
            <a:avLst>
              <a:gd name="adj" fmla="val 4651"/>
            </a:avLst>
          </a:prstGeom>
          <a:solidFill>
            <a:srgbClr val="F0F0F5"/>
          </a:solidFill>
          <a:ln/>
        </p:spPr>
      </p:sp>
      <p:sp>
        <p:nvSpPr>
          <p:cNvPr id="10" name="Text 8"/>
          <p:cNvSpPr/>
          <p:nvPr/>
        </p:nvSpPr>
        <p:spPr>
          <a:xfrm>
            <a:off x="2788920" y="1417320"/>
            <a:ext cx="17830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SCPラボ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2788920" y="1783080"/>
            <a:ext cx="1783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E8E9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@scp-lab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2788920" y="2148840"/>
            <a:ext cx="17830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110人</a:t>
            </a:r>
            <a:endParaRPr lang="en-US" sz="2200" dirty="0"/>
          </a:p>
        </p:txBody>
      </p:sp>
      <p:sp>
        <p:nvSpPr>
          <p:cNvPr id="13" name="Text 11"/>
          <p:cNvSpPr/>
          <p:nvPr/>
        </p:nvSpPr>
        <p:spPr>
          <a:xfrm>
            <a:off x="3154680" y="2743200"/>
            <a:ext cx="1051560" cy="274320"/>
          </a:xfrm>
          <a:prstGeom prst="roundRect">
            <a:avLst>
              <a:gd name="adj" fmla="val 16667"/>
            </a:avLst>
          </a:prstGeom>
          <a:solidFill>
            <a:srgbClr val="27AE60"/>
          </a:solidFill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稼働中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4846320" y="1280160"/>
            <a:ext cx="1965960" cy="2194560"/>
          </a:xfrm>
          <a:prstGeom prst="roundRect">
            <a:avLst>
              <a:gd name="adj" fmla="val 4651"/>
            </a:avLst>
          </a:prstGeom>
          <a:solidFill>
            <a:srgbClr val="F0F0F5"/>
          </a:solidFill>
          <a:ln/>
        </p:spPr>
      </p:sp>
      <p:sp>
        <p:nvSpPr>
          <p:cNvPr id="15" name="Text 13"/>
          <p:cNvSpPr/>
          <p:nvPr/>
        </p:nvSpPr>
        <p:spPr>
          <a:xfrm>
            <a:off x="4937760" y="1417320"/>
            <a:ext cx="17830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ポケラボ</a:t>
            </a:r>
            <a:endParaRPr lang="en-US" sz="1600" dirty="0"/>
          </a:p>
        </p:txBody>
      </p:sp>
      <p:sp>
        <p:nvSpPr>
          <p:cNvPr id="16" name="Text 14"/>
          <p:cNvSpPr/>
          <p:nvPr/>
        </p:nvSpPr>
        <p:spPr>
          <a:xfrm>
            <a:off x="4937760" y="1783080"/>
            <a:ext cx="1783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E8E9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@pokemon-lab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4937760" y="2148840"/>
            <a:ext cx="17830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新規</a:t>
            </a:r>
            <a:endParaRPr lang="en-US" sz="2200" dirty="0"/>
          </a:p>
        </p:txBody>
      </p:sp>
      <p:sp>
        <p:nvSpPr>
          <p:cNvPr id="18" name="Text 16"/>
          <p:cNvSpPr/>
          <p:nvPr/>
        </p:nvSpPr>
        <p:spPr>
          <a:xfrm>
            <a:off x="5303520" y="2743200"/>
            <a:ext cx="1051560" cy="274320"/>
          </a:xfrm>
          <a:prstGeom prst="roundRect">
            <a:avLst>
              <a:gd name="adj" fmla="val 16667"/>
            </a:avLst>
          </a:prstGeom>
          <a:solidFill>
            <a:srgbClr val="E8A317"/>
          </a:solidFill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設定済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6995160" y="1280160"/>
            <a:ext cx="1965960" cy="2194560"/>
          </a:xfrm>
          <a:prstGeom prst="roundRect">
            <a:avLst>
              <a:gd name="adj" fmla="val 4651"/>
            </a:avLst>
          </a:prstGeom>
          <a:solidFill>
            <a:srgbClr val="F0F0F5"/>
          </a:solidFill>
          <a:ln/>
        </p:spPr>
      </p:sp>
      <p:sp>
        <p:nvSpPr>
          <p:cNvPr id="20" name="Text 18"/>
          <p:cNvSpPr/>
          <p:nvPr/>
        </p:nvSpPr>
        <p:spPr>
          <a:xfrm>
            <a:off x="7086600" y="1417320"/>
            <a:ext cx="17830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妖怪ウォッチ</a:t>
            </a:r>
            <a:endParaRPr lang="en-US" sz="1600" dirty="0"/>
          </a:p>
        </p:txBody>
      </p:sp>
      <p:sp>
        <p:nvSpPr>
          <p:cNvPr id="21" name="Text 19"/>
          <p:cNvSpPr/>
          <p:nvPr/>
        </p:nvSpPr>
        <p:spPr>
          <a:xfrm>
            <a:off x="7086600" y="1783080"/>
            <a:ext cx="1783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E8E9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@yokai-watch</a:t>
            </a:r>
            <a:endParaRPr lang="en-US" sz="1000" dirty="0"/>
          </a:p>
        </p:txBody>
      </p:sp>
      <p:sp>
        <p:nvSpPr>
          <p:cNvPr id="22" name="Text 20"/>
          <p:cNvSpPr/>
          <p:nvPr/>
        </p:nvSpPr>
        <p:spPr>
          <a:xfrm>
            <a:off x="7086600" y="2148840"/>
            <a:ext cx="17830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新規</a:t>
            </a:r>
            <a:endParaRPr lang="en-US" sz="2200" dirty="0"/>
          </a:p>
        </p:txBody>
      </p:sp>
      <p:sp>
        <p:nvSpPr>
          <p:cNvPr id="23" name="Text 21"/>
          <p:cNvSpPr/>
          <p:nvPr/>
        </p:nvSpPr>
        <p:spPr>
          <a:xfrm>
            <a:off x="7452360" y="2743200"/>
            <a:ext cx="1051560" cy="274320"/>
          </a:xfrm>
          <a:prstGeom prst="roundRect">
            <a:avLst>
              <a:gd name="adj" fmla="val 16667"/>
            </a:avLst>
          </a:prstGeom>
          <a:solidFill>
            <a:srgbClr val="E8A317"/>
          </a:solidFill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設定済</a:t>
            </a:r>
            <a:endParaRPr lang="en-US" sz="1100" dirty="0"/>
          </a:p>
        </p:txBody>
      </p:sp>
      <p:sp>
        <p:nvSpPr>
          <p:cNvPr id="24" name="Text 22"/>
          <p:cNvSpPr/>
          <p:nvPr/>
        </p:nvSpPr>
        <p:spPr>
          <a:xfrm>
            <a:off x="548640" y="384048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E74C3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Claude分析: Anthropicクレジットチャージ待ち</a:t>
            </a:r>
            <a:endParaRPr lang="en-US" sz="1200" dirty="0"/>
          </a:p>
        </p:txBody>
      </p:sp>
      <p:sp>
        <p:nvSpPr>
          <p:cNvPr id="25" name="Text 23"/>
          <p:cNvSpPr/>
          <p:nvPr/>
        </p:nvSpPr>
        <p:spPr>
          <a:xfrm>
            <a:off x="548640" y="416052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新チャンネル: 正しいアカウントでYouTubeチャンネル作成が必要</a:t>
            </a:r>
            <a:endParaRPr lang="en-US" sz="12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7432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優先順位とアクションプラン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548640" y="868680"/>
            <a:ext cx="1828800" cy="36576"/>
          </a:xfrm>
          <a:prstGeom prst="rect">
            <a:avLst/>
          </a:prstGeom>
          <a:solidFill>
            <a:srgbClr val="E94560"/>
          </a:solidFill>
          <a:ln/>
        </p:spPr>
      </p:sp>
      <p:sp>
        <p:nvSpPr>
          <p:cNvPr id="4" name="Shape 2"/>
          <p:cNvSpPr/>
          <p:nvPr/>
        </p:nvSpPr>
        <p:spPr>
          <a:xfrm>
            <a:off x="548640" y="1188720"/>
            <a:ext cx="8046720" cy="1097280"/>
          </a:xfrm>
          <a:prstGeom prst="roundRect">
            <a:avLst>
              <a:gd name="adj" fmla="val 8333"/>
            </a:avLst>
          </a:prstGeom>
          <a:solidFill>
            <a:srgbClr val="F0F0F5"/>
          </a:solidFill>
          <a:ln/>
        </p:spPr>
      </p:sp>
      <p:sp>
        <p:nvSpPr>
          <p:cNvPr id="5" name="Text 3"/>
          <p:cNvSpPr/>
          <p:nvPr/>
        </p:nvSpPr>
        <p:spPr>
          <a:xfrm>
            <a:off x="731520" y="1234440"/>
            <a:ext cx="2286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E9456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Phase 1: 即実行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731520" y="1554480"/>
            <a:ext cx="38404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▸ FanUp: Stripe Connect実装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731520" y="1783080"/>
            <a:ext cx="38404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▸ Aiseki: グループメンバーロジック修正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731520" y="2011680"/>
            <a:ext cx="38404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▸ Aiseki: Vercel環境変数更新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4663440" y="1554480"/>
            <a:ext cx="38404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▸ YouTube: 正しいアカウントでチャンネル作成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4663440" y="1783080"/>
            <a:ext cx="38404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▸ Anthropicクレジットチャージ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548640" y="2423160"/>
            <a:ext cx="8046720" cy="1097280"/>
          </a:xfrm>
          <a:prstGeom prst="roundRect">
            <a:avLst>
              <a:gd name="adj" fmla="val 8333"/>
            </a:avLst>
          </a:prstGeom>
          <a:solidFill>
            <a:srgbClr val="F0F0F5"/>
          </a:solidFill>
          <a:ln/>
        </p:spPr>
      </p:sp>
      <p:sp>
        <p:nvSpPr>
          <p:cNvPr id="12" name="Text 10"/>
          <p:cNvSpPr/>
          <p:nvPr/>
        </p:nvSpPr>
        <p:spPr>
          <a:xfrm>
            <a:off x="731520" y="2468880"/>
            <a:ext cx="2286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E8A31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Phase 2: 基盤整備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731520" y="2788920"/>
            <a:ext cx="38404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▸ Oripa: Stripe決済連携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731520" y="3017520"/>
            <a:ext cx="38404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▸ Oripa: Vercelデプロイ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731520" y="3246120"/>
            <a:ext cx="38404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▸ FanUp: LP改善・SEO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4663440" y="2788920"/>
            <a:ext cx="38404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▸ Aiseki: E2Eテスト完了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4663440" y="3017520"/>
            <a:ext cx="38404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▸ 全プロジェクト: 利用規約整備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548640" y="3657600"/>
            <a:ext cx="8046720" cy="1097280"/>
          </a:xfrm>
          <a:prstGeom prst="roundRect">
            <a:avLst>
              <a:gd name="adj" fmla="val 8333"/>
            </a:avLst>
          </a:prstGeom>
          <a:solidFill>
            <a:srgbClr val="F0F0F5"/>
          </a:solidFill>
          <a:ln/>
        </p:spPr>
      </p:sp>
      <p:sp>
        <p:nvSpPr>
          <p:cNvPr id="19" name="Text 17"/>
          <p:cNvSpPr/>
          <p:nvPr/>
        </p:nvSpPr>
        <p:spPr>
          <a:xfrm>
            <a:off x="731520" y="3703320"/>
            <a:ext cx="2286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B9C8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Phase 3: 集客</a:t>
            </a:r>
            <a:endParaRPr lang="en-US" sz="1400" dirty="0"/>
          </a:p>
        </p:txBody>
      </p:sp>
      <p:sp>
        <p:nvSpPr>
          <p:cNvPr id="20" name="Text 18"/>
          <p:cNvSpPr/>
          <p:nvPr/>
        </p:nvSpPr>
        <p:spPr>
          <a:xfrm>
            <a:off x="731520" y="4023360"/>
            <a:ext cx="38404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▸ FanUp: クリエイター獲得営業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731520" y="4251960"/>
            <a:ext cx="38404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▸ Aiseki: 大学・サークルへの展開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731520" y="4480560"/>
            <a:ext cx="38404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▸ Oripa: TCGコミュニティへの告知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4663440" y="4023360"/>
            <a:ext cx="38404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▸ YouTube: 4チャンネル安定運用</a:t>
            </a:r>
            <a:endParaRPr lang="en-US" sz="11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16213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457200"/>
            <a:ext cx="768096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今すぐやること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731520" y="1143000"/>
            <a:ext cx="1828800" cy="36576"/>
          </a:xfrm>
          <a:prstGeom prst="rect">
            <a:avLst/>
          </a:prstGeom>
          <a:solidFill>
            <a:srgbClr val="E94560"/>
          </a:solidFill>
          <a:ln/>
        </p:spPr>
      </p:sp>
      <p:sp>
        <p:nvSpPr>
          <p:cNvPr id="4" name="Shape 2"/>
          <p:cNvSpPr/>
          <p:nvPr/>
        </p:nvSpPr>
        <p:spPr>
          <a:xfrm>
            <a:off x="731520" y="1554480"/>
            <a:ext cx="7680960" cy="411480"/>
          </a:xfrm>
          <a:prstGeom prst="roundRect">
            <a:avLst>
              <a:gd name="adj" fmla="val 17778"/>
            </a:avLst>
          </a:prstGeom>
          <a:solidFill>
            <a:srgbClr val="0F3460"/>
          </a:solidFill>
          <a:ln/>
        </p:spPr>
      </p:sp>
      <p:sp>
        <p:nvSpPr>
          <p:cNvPr id="5" name="Text 3"/>
          <p:cNvSpPr/>
          <p:nvPr/>
        </p:nvSpPr>
        <p:spPr>
          <a:xfrm>
            <a:off x="914400" y="1554480"/>
            <a:ext cx="6400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E9456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HIGH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1645920" y="1554480"/>
            <a:ext cx="9144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E9456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Claude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2651760" y="1554480"/>
            <a:ext cx="54864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FanUp Stripe Connect実装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731520" y="2057400"/>
            <a:ext cx="7680960" cy="411480"/>
          </a:xfrm>
          <a:prstGeom prst="roundRect">
            <a:avLst>
              <a:gd name="adj" fmla="val 17778"/>
            </a:avLst>
          </a:prstGeom>
          <a:solidFill>
            <a:srgbClr val="0F3460"/>
          </a:solidFill>
          <a:ln/>
        </p:spPr>
      </p:sp>
      <p:sp>
        <p:nvSpPr>
          <p:cNvPr id="9" name="Text 7"/>
          <p:cNvSpPr/>
          <p:nvPr/>
        </p:nvSpPr>
        <p:spPr>
          <a:xfrm>
            <a:off x="914400" y="2057400"/>
            <a:ext cx="6400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E9456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HIGH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1645920" y="2057400"/>
            <a:ext cx="9144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E9456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Claude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2651760" y="2057400"/>
            <a:ext cx="54864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Aiseki グループメンバーロジック修正 + 環境変数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731520" y="2560320"/>
            <a:ext cx="7680960" cy="411480"/>
          </a:xfrm>
          <a:prstGeom prst="roundRect">
            <a:avLst>
              <a:gd name="adj" fmla="val 17778"/>
            </a:avLst>
          </a:prstGeom>
          <a:solidFill>
            <a:srgbClr val="0F3460"/>
          </a:solidFill>
          <a:ln/>
        </p:spPr>
      </p:sp>
      <p:sp>
        <p:nvSpPr>
          <p:cNvPr id="13" name="Text 11"/>
          <p:cNvSpPr/>
          <p:nvPr/>
        </p:nvSpPr>
        <p:spPr>
          <a:xfrm>
            <a:off x="914400" y="2560320"/>
            <a:ext cx="6400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E8A31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MID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1645920" y="2560320"/>
            <a:ext cx="9144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E9456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Claude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2651760" y="2560320"/>
            <a:ext cx="54864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Oripa Stripe決済連携 + デプロイ設定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731520" y="3063240"/>
            <a:ext cx="7680960" cy="411480"/>
          </a:xfrm>
          <a:prstGeom prst="roundRect">
            <a:avLst>
              <a:gd name="adj" fmla="val 17778"/>
            </a:avLst>
          </a:prstGeom>
          <a:solidFill>
            <a:srgbClr val="2A2A4E"/>
          </a:solidFill>
          <a:ln/>
        </p:spPr>
      </p:sp>
      <p:sp>
        <p:nvSpPr>
          <p:cNvPr id="17" name="Text 15"/>
          <p:cNvSpPr/>
          <p:nvPr/>
        </p:nvSpPr>
        <p:spPr>
          <a:xfrm>
            <a:off x="914400" y="3063240"/>
            <a:ext cx="6400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E9456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HIGH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1645920" y="3063240"/>
            <a:ext cx="9144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E9456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ザキ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2651760" y="3063240"/>
            <a:ext cx="54864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Anthropicクレジットチャージ</a:t>
            </a:r>
            <a:endParaRPr lang="en-US" sz="1300" dirty="0"/>
          </a:p>
        </p:txBody>
      </p:sp>
      <p:sp>
        <p:nvSpPr>
          <p:cNvPr id="20" name="Shape 18"/>
          <p:cNvSpPr/>
          <p:nvPr/>
        </p:nvSpPr>
        <p:spPr>
          <a:xfrm>
            <a:off x="731520" y="3566160"/>
            <a:ext cx="7680960" cy="411480"/>
          </a:xfrm>
          <a:prstGeom prst="roundRect">
            <a:avLst>
              <a:gd name="adj" fmla="val 17778"/>
            </a:avLst>
          </a:prstGeom>
          <a:solidFill>
            <a:srgbClr val="2A2A4E"/>
          </a:solidFill>
          <a:ln/>
        </p:spPr>
      </p:sp>
      <p:sp>
        <p:nvSpPr>
          <p:cNvPr id="21" name="Text 19"/>
          <p:cNvSpPr/>
          <p:nvPr/>
        </p:nvSpPr>
        <p:spPr>
          <a:xfrm>
            <a:off x="914400" y="3566160"/>
            <a:ext cx="6400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E8A31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MID</a:t>
            </a:r>
            <a:endParaRPr lang="en-US" sz="1000" dirty="0"/>
          </a:p>
        </p:txBody>
      </p:sp>
      <p:sp>
        <p:nvSpPr>
          <p:cNvPr id="22" name="Text 20"/>
          <p:cNvSpPr/>
          <p:nvPr/>
        </p:nvSpPr>
        <p:spPr>
          <a:xfrm>
            <a:off x="1645920" y="3566160"/>
            <a:ext cx="9144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E9456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ザキ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2651760" y="3566160"/>
            <a:ext cx="54864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正しいアカウントでYouTubeチャンネル作成</a:t>
            </a:r>
            <a:endParaRPr lang="en-US" sz="1300" dirty="0"/>
          </a:p>
        </p:txBody>
      </p:sp>
      <p:sp>
        <p:nvSpPr>
          <p:cNvPr id="24" name="Shape 22"/>
          <p:cNvSpPr/>
          <p:nvPr/>
        </p:nvSpPr>
        <p:spPr>
          <a:xfrm>
            <a:off x="731520" y="4069080"/>
            <a:ext cx="7680960" cy="411480"/>
          </a:xfrm>
          <a:prstGeom prst="roundRect">
            <a:avLst>
              <a:gd name="adj" fmla="val 17778"/>
            </a:avLst>
          </a:prstGeom>
          <a:solidFill>
            <a:srgbClr val="2A2A4E"/>
          </a:solidFill>
          <a:ln/>
        </p:spPr>
      </p:sp>
      <p:sp>
        <p:nvSpPr>
          <p:cNvPr id="25" name="Text 23"/>
          <p:cNvSpPr/>
          <p:nvPr/>
        </p:nvSpPr>
        <p:spPr>
          <a:xfrm>
            <a:off x="914400" y="4069080"/>
            <a:ext cx="6400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0F0F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LOW</a:t>
            </a:r>
            <a:endParaRPr lang="en-US" sz="1000" dirty="0"/>
          </a:p>
        </p:txBody>
      </p:sp>
      <p:sp>
        <p:nvSpPr>
          <p:cNvPr id="26" name="Text 24"/>
          <p:cNvSpPr/>
          <p:nvPr/>
        </p:nvSpPr>
        <p:spPr>
          <a:xfrm>
            <a:off x="1645920" y="4069080"/>
            <a:ext cx="9144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E9456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ザキ</a:t>
            </a:r>
            <a:endParaRPr lang="en-US" sz="1200" dirty="0"/>
          </a:p>
        </p:txBody>
      </p:sp>
      <p:sp>
        <p:nvSpPr>
          <p:cNvPr id="27" name="Text 25"/>
          <p:cNvSpPr/>
          <p:nvPr/>
        </p:nvSpPr>
        <p:spPr>
          <a:xfrm>
            <a:off x="2651760" y="4069080"/>
            <a:ext cx="54864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間違って作った「ゆっくりポケラボ」削除</a:t>
            </a:r>
            <a:endParaRPr lang="en-US" sz="1300" dirty="0"/>
          </a:p>
        </p:txBody>
      </p:sp>
      <p:sp>
        <p:nvSpPr>
          <p:cNvPr id="28" name="Text 26"/>
          <p:cNvSpPr/>
          <p:nvPr/>
        </p:nvSpPr>
        <p:spPr>
          <a:xfrm>
            <a:off x="731520" y="4572000"/>
            <a:ext cx="76809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E9456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全プロジェクト、コミットして進める。</a:t>
            </a:r>
            <a:endParaRPr lang="en-US" sz="14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8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プロジェクト進行計画</dc:title>
  <dc:subject>PptxGenJS Presentation</dc:subject>
  <dc:creator>Claude</dc:creator>
  <cp:lastModifiedBy>Claude</cp:lastModifiedBy>
  <cp:revision>1</cp:revision>
  <dcterms:created xsi:type="dcterms:W3CDTF">2026-07-30T09:08:14Z</dcterms:created>
  <dcterms:modified xsi:type="dcterms:W3CDTF">2026-07-30T09:08:14Z</dcterms:modified>
</cp:coreProperties>
</file>